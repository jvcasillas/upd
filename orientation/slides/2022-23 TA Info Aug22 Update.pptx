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 type="screen16x9"/>
  <p:notesSz cx="6858000" cy="9144000"/>
  <p:embeddedFontLst>
    <p:embeddedFont>
      <p:font typeface="Roboto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6"/>
  </p:normalViewPr>
  <p:slideViewPr>
    <p:cSldViewPr snapToGrid="0">
      <p:cViewPr varScale="1">
        <p:scale>
          <a:sx n="141" d="100"/>
          <a:sy n="141" d="100"/>
        </p:scale>
        <p:origin x="12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5478048f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5478048f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04665476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04665476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04665476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04665476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904665476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904665476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904665476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904665476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904665476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904665476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CCCCC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10800000" flipH="1">
            <a:off x="0" y="1038000"/>
            <a:ext cx="9144000" cy="4105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5550" y="4994125"/>
            <a:ext cx="9155100" cy="171300"/>
          </a:xfrm>
          <a:prstGeom prst="rect">
            <a:avLst/>
          </a:prstGeom>
          <a:solidFill>
            <a:srgbClr val="CC00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CC0000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rot="10800000" flipH="1">
            <a:off x="0" y="1097400"/>
            <a:ext cx="9144000" cy="404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10002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60950" y="23250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-5550" y="4994125"/>
            <a:ext cx="9155100" cy="1713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CC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 rot="10800000" flipH="1">
            <a:off x="185550" y="210600"/>
            <a:ext cx="8772900" cy="472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58700" y="25637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 rot="10800000" flipH="1">
            <a:off x="142200" y="179400"/>
            <a:ext cx="8859600" cy="4784700"/>
          </a:xfrm>
          <a:prstGeom prst="rect">
            <a:avLst/>
          </a:prstGeom>
          <a:solidFill>
            <a:srgbClr val="D21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58700" y="25637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solidFill>
          <a:srgbClr val="CC000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 rot="10800000" flipH="1">
            <a:off x="185550" y="210600"/>
            <a:ext cx="8772900" cy="4722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58700" y="25637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CC0033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/>
        </p:nvSpPr>
        <p:spPr>
          <a:xfrm rot="10800000" flipH="1">
            <a:off x="4503725" y="0"/>
            <a:ext cx="4640400" cy="5143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/>
          <p:nvPr/>
        </p:nvSpPr>
        <p:spPr>
          <a:xfrm rot="-5400000">
            <a:off x="19783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_COLUMN_TEXT_1">
    <p:bg>
      <p:bgPr>
        <a:solidFill>
          <a:srgbClr val="CC003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4503725" y="0"/>
            <a:ext cx="4640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-5400000">
            <a:off x="19783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3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ec.rutgers.edu/wp-content/uploads/60-1-33-current-4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file:///C:\Users\JR930\Contacts\Downloads\10.2.13%20-%20current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villalba@rutgers.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bbutler@spanport.rutgers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33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1452900" y="1939638"/>
            <a:ext cx="6238200" cy="11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DEPARTMENT OF SPANISH AND PORTUGUESE</a:t>
            </a:r>
            <a:endParaRPr sz="2200">
              <a:solidFill>
                <a:srgbClr val="000000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238" y="1388013"/>
            <a:ext cx="3681524" cy="8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1452900" y="2729333"/>
            <a:ext cx="62382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rgbClr val="D21034"/>
                </a:solidFill>
                <a:latin typeface="Roboto"/>
                <a:ea typeface="Roboto"/>
                <a:cs typeface="Roboto"/>
                <a:sym typeface="Roboto"/>
              </a:rPr>
              <a:t>Important Information for TAs: </a:t>
            </a:r>
            <a:endParaRPr sz="2300" b="1" dirty="0">
              <a:solidFill>
                <a:srgbClr val="D2103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rgbClr val="D21034"/>
                </a:solidFill>
                <a:latin typeface="Roboto"/>
                <a:ea typeface="Roboto"/>
                <a:cs typeface="Roboto"/>
                <a:sym typeface="Roboto"/>
              </a:rPr>
              <a:t>Welcome to </a:t>
            </a:r>
            <a:r>
              <a:rPr lang="en" sz="2300" b="1" dirty="0" smtClean="0">
                <a:solidFill>
                  <a:srgbClr val="D21034"/>
                </a:solidFill>
                <a:latin typeface="Roboto"/>
                <a:ea typeface="Roboto"/>
                <a:cs typeface="Roboto"/>
                <a:sym typeface="Roboto"/>
              </a:rPr>
              <a:t>2022-23!</a:t>
            </a:r>
            <a:endParaRPr sz="2300" b="1" dirty="0">
              <a:solidFill>
                <a:srgbClr val="D2103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33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60950" y="220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Placement (SAS Policy in Global Languages)</a:t>
            </a:r>
            <a:endParaRPr sz="2400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60950" y="1139525"/>
            <a:ext cx="8382900" cy="3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All students (heritage or non-heritage) who wish to enroll in classes in Spanish and Portuguese must take a placement exam IF they have taken two or more years of Spanish in high school. Exceptions to this policy: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○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Less than two years can take 101 and 102 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○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Transfer students will start at the next level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○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Students that have received credit for AP Spanish and whose results are listed in DN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○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No native students should be registered in language classes. Send them to me or to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Nicole 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No student in SAS will receive credit for courses under placement. They will receive an “E” credit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If you have a student that does not want to leave the course after being told he would not receive credit, send him/her and e-mail explaining that s/he will not receive credit and COPY ME, particularly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the student is from SAS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Placement exam closes </a:t>
            </a:r>
            <a:r>
              <a:rPr lang="en" sz="1500" b="1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Monday</a:t>
            </a:r>
            <a:r>
              <a:rPr lang="en" sz="1500" b="1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, September </a:t>
            </a:r>
            <a:r>
              <a:rPr lang="en" sz="1500" b="1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12 </a:t>
            </a:r>
            <a:r>
              <a:rPr lang="en" sz="1500" b="1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at </a:t>
            </a:r>
            <a:r>
              <a:rPr lang="en" sz="1500" b="1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lang="en" sz="1500" b="1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PM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. It reopens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October 31, 2022</a:t>
            </a:r>
            <a:endParaRPr lang="en"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can students find their placement results?  GO to </a:t>
            </a:r>
            <a:r>
              <a:rPr lang="en" sz="1500" b="1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MY COURSE LIST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tab in Degree Navigator.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○"/>
            </a:pPr>
            <a:r>
              <a:rPr lang="en" sz="1500" b="1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PLACEMENT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results are listed at the bottom of the page</a:t>
            </a:r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33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460950" y="220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Heritage/Non- Heritage Students</a:t>
            </a:r>
            <a:endParaRPr sz="2400"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460950" y="1139525"/>
            <a:ext cx="8382900" cy="3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If you feel you have a heritage student in a non-heritage class, contact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Nicole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immediately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Non heritage sequence: 101, 102 (or 121), 131, 132, 203, 204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Heritage sequence: 139, 201, 202.  If a heritage student is struggling in 139, let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Nicole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know immediately. 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○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The student may need to go to 121 and then take 139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Heritage and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non-heritage students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may take 203/204 OR 201/202 during the same semester. They will be able to register on their own for 201/203 but will need an override for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202/204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201 is not offered for the Fall 2022 semester, therefore Heritage students can register for 203 equivalent</a:t>
            </a:r>
            <a:endParaRPr sz="19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33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460950" y="220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Rutgers Employees</a:t>
            </a:r>
            <a:endParaRPr sz="240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460950" y="1139525"/>
            <a:ext cx="8519400" cy="3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State employees: if you have an emergency, please let </a:t>
            </a:r>
            <a:r>
              <a:rPr lang="en" sz="13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Nicole </a:t>
            </a: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know. She will report to me </a:t>
            </a:r>
            <a:r>
              <a:rPr lang="en" sz="13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" sz="1300" dirty="0" smtClean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Nuria</a:t>
            </a:r>
            <a:endParaRPr sz="13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○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Affiliated with the University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○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E-mail policy: please answer messages within 24 hours except on weekends, be sure to make it explicit that it will take you longer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○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Do not give any grades via e-mail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○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Follow netiquette when addressing your students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FERPA: does not allow you to discuss any academic issues with the parents of a student unless the student shows written consent authorizing the parents to get information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TITLE IX </a:t>
            </a:r>
            <a:r>
              <a:rPr lang="en" sz="1300" u="sng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Title IX Policy and Grievance Procedures</a:t>
            </a:r>
            <a:endParaRPr sz="1300" dirty="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Professional development: must attend all meetings, trainings, workshops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Rutgers is monitoring all evaluations at the end of the term to evaluate adjustment to remote instruction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Academic Integrity- New policy </a:t>
            </a:r>
            <a:r>
              <a:rPr lang="en" sz="1300" u="sng" dirty="0">
                <a:solidFill>
                  <a:srgbClr val="D21034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  <a:hlinkClick r:id="rId4" action="ppaction://hlinkfile"/>
              </a:rPr>
              <a:t>Current Rutgers University Academic Integrity Policy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If a student is missing in action (MIA) more than three consecutive times without an excuse please send the student a note, copy me, and file a report 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If there are no final exams in the course, </a:t>
            </a:r>
            <a:r>
              <a:rPr lang="en" sz="13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instructor </a:t>
            </a:r>
            <a:r>
              <a:rPr lang="en" sz="13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must turn in their grades 72 hours after their last class meeting</a:t>
            </a:r>
            <a:endParaRPr sz="13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33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60950" y="220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How to be Flexible and Maintain Accountability</a:t>
            </a:r>
            <a:endParaRPr sz="2400"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460950" y="1139525"/>
            <a:ext cx="8382900" cy="3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If a student cannot maintain pace of the course, it is best that s/he drops the course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500"/>
              <a:buFont typeface="Calibri"/>
              <a:buChar char="○"/>
            </a:pP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See next slide for Important Fall </a:t>
            </a: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2022 </a:t>
            </a: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Dates</a:t>
            </a:r>
            <a:endParaRPr sz="1500" dirty="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Be sure to file a warning grade- you will receive a message from Registrars-week 8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If you notice that a student is having internet issues that are affecting his/her performance, please reach out to the student. Let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Nicole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or me know ASAP. The University is trying to help students but we need to know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Office hours: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" sz="1500" dirty="0" smtClean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campus </a:t>
            </a:r>
            <a:r>
              <a:rPr lang="en" sz="1500" dirty="0" smtClean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video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conference at least two hours per class per week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Accommodations for Disabilities 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Online policy for deadlines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NO instructor should move the deadline to the reading day to accommodate students. Instead, the student will receive a new deadline during exam week in consultation with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Nicole. 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“T” grades are for students that are missing specific components of the course, not for a student that is missing over 75% of the course requirements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33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460950" y="220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How to be Flexible and Maintain Accountability (cont.)</a:t>
            </a:r>
            <a:endParaRPr sz="2400"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734400" y="1139524"/>
            <a:ext cx="7695922" cy="3833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Important Fall </a:t>
            </a: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2022 </a:t>
            </a: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Dates</a:t>
            </a:r>
            <a:endParaRPr sz="1500" dirty="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Sept</a:t>
            </a: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Labor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Day-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University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closed</a:t>
            </a:r>
          </a:p>
          <a:p>
            <a:pPr indent="-323850"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-US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Sept. 6</a:t>
            </a:r>
            <a:r>
              <a:rPr lang="en-US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Classes </a:t>
            </a:r>
            <a:r>
              <a:rPr lang="en-US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Sept</a:t>
            </a: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Last day to drop without a “W”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Sept. </a:t>
            </a:r>
            <a:r>
              <a:rPr lang="en" sz="150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" sz="150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Last day to add a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October </a:t>
            </a:r>
            <a:r>
              <a:rPr lang="en" sz="1500" dirty="0" smtClean="0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" sz="1500" dirty="0" smtClean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Common Hourly Exam</a:t>
            </a:r>
            <a:endParaRPr lang="en" sz="15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Oct. 10-21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Warning grade period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Oct. 17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Spring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term schedule visible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Oct. 25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Last day to withdraw from individual classes with a “W”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-US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r>
              <a:rPr lang="en-US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. 7</a:t>
            </a:r>
            <a:r>
              <a:rPr lang="en-US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Registration for Spring term starts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Dec. </a:t>
            </a: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Last day of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lang="en"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 smtClean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. 15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Last day to withdraw from the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University</a:t>
            </a:r>
          </a:p>
          <a:p>
            <a:pPr indent="-323850"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chemeClr val="accent3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Dec. 15 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Reading </a:t>
            </a:r>
            <a:r>
              <a:rPr lang="en" sz="1500" dirty="0" smtClean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E"/>
              </a:buClr>
              <a:buSzPts val="1500"/>
              <a:buFont typeface="Calibri"/>
              <a:buChar char="●"/>
            </a:pPr>
            <a:r>
              <a:rPr lang="en" sz="15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Dec. 16-23</a:t>
            </a:r>
            <a:r>
              <a:rPr lang="en" sz="1500" dirty="0">
                <a:solidFill>
                  <a:srgbClr val="201F1E"/>
                </a:solidFill>
                <a:latin typeface="Calibri"/>
                <a:ea typeface="Calibri"/>
                <a:cs typeface="Calibri"/>
                <a:sym typeface="Calibri"/>
              </a:rPr>
              <a:t> Final Exam period</a:t>
            </a:r>
            <a:endParaRPr sz="1500" dirty="0">
              <a:solidFill>
                <a:srgbClr val="201F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2269031" y="96328"/>
            <a:ext cx="4605936" cy="1589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dirty="0">
                <a:solidFill>
                  <a:srgbClr val="FFFFFF"/>
                </a:solidFill>
              </a:rPr>
              <a:t>Thank you!</a:t>
            </a:r>
            <a:endParaRPr sz="6000" b="1" dirty="0">
              <a:solidFill>
                <a:srgbClr val="FFFFFF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2053332" y="1426952"/>
            <a:ext cx="5037333" cy="332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Spanish Language Instruction Coordinator</a:t>
            </a:r>
            <a:endParaRPr sz="19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Nicole Rodriguez</a:t>
            </a:r>
            <a:endParaRPr sz="19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 dirty="0" smtClean="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nicole.rodriguez@rutgers.edu</a:t>
            </a:r>
            <a:r>
              <a:rPr lang="en" sz="19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9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9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Undergraduate Director</a:t>
            </a:r>
            <a:endParaRPr sz="19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Damaris Otero-Torres</a:t>
            </a:r>
            <a:endParaRPr sz="19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900" u="sng" dirty="0" smtClean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dotero</a:t>
            </a:r>
            <a:r>
              <a:rPr lang="en" sz="1900" u="sng" dirty="0" smtClean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@spanport.rutgers.edu</a:t>
            </a:r>
            <a:r>
              <a:rPr lang="en" sz="1900" dirty="0" smtClean="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en" sz="1900" dirty="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900" dirty="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/>
            <a:r>
              <a:rPr lang="en-US" sz="19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Undergraduate Administrator</a:t>
            </a:r>
          </a:p>
          <a:p>
            <a:pPr algn="ctr"/>
            <a:r>
              <a:rPr lang="en-US" sz="19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Jerlene Rodriguez</a:t>
            </a:r>
          </a:p>
          <a:p>
            <a:pPr algn="ctr"/>
            <a:r>
              <a:rPr lang="en-US" sz="1900" u="sng" dirty="0" err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jerlene.rodriguez@rutgers.edu</a:t>
            </a:r>
            <a:endParaRPr lang="en-US" sz="1900" u="sng" dirty="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900" dirty="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4001A1BC82C74FAC858A3F5A968B43" ma:contentTypeVersion="14" ma:contentTypeDescription="Create a new document." ma:contentTypeScope="" ma:versionID="f9f1a90d855fa9b3191f580e24a980cb">
  <xsd:schema xmlns:xsd="http://www.w3.org/2001/XMLSchema" xmlns:xs="http://www.w3.org/2001/XMLSchema" xmlns:p="http://schemas.microsoft.com/office/2006/metadata/properties" xmlns:ns3="cd6c5ee2-8a5e-4da3-a132-57a474e9770d" xmlns:ns4="3b36b4a5-279b-4651-9094-a3e8754c866a" targetNamespace="http://schemas.microsoft.com/office/2006/metadata/properties" ma:root="true" ma:fieldsID="e0d6d45ca528369efd4248b7c3fa0a33" ns3:_="" ns4:_="">
    <xsd:import namespace="cd6c5ee2-8a5e-4da3-a132-57a474e9770d"/>
    <xsd:import namespace="3b36b4a5-279b-4651-9094-a3e8754c866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6c5ee2-8a5e-4da3-a132-57a474e977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36b4a5-279b-4651-9094-a3e8754c866a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82C725-F975-4561-84B6-6C17608FE0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AD3F5F-BE41-4FC8-B97A-4D131E15C7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6c5ee2-8a5e-4da3-a132-57a474e9770d"/>
    <ds:schemaRef ds:uri="3b36b4a5-279b-4651-9094-a3e8754c86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5ACB05-C28D-471B-B793-0E4917E5ECA8}">
  <ds:schemaRefs>
    <ds:schemaRef ds:uri="http://purl.org/dc/terms/"/>
    <ds:schemaRef ds:uri="http://schemas.microsoft.com/office/2006/documentManagement/types"/>
    <ds:schemaRef ds:uri="cd6c5ee2-8a5e-4da3-a132-57a474e9770d"/>
    <ds:schemaRef ds:uri="3b36b4a5-279b-4651-9094-a3e8754c866a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9296</TotalTime>
  <Words>851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Arial</vt:lpstr>
      <vt:lpstr>Calibri</vt:lpstr>
      <vt:lpstr>Material</vt:lpstr>
      <vt:lpstr>DEPARTMENT OF SPANISH AND PORTUGUESE</vt:lpstr>
      <vt:lpstr>Placement (SAS Policy in Global Languages)</vt:lpstr>
      <vt:lpstr>Heritage/Non- Heritage Students</vt:lpstr>
      <vt:lpstr>Rutgers Employees</vt:lpstr>
      <vt:lpstr>How to be Flexible and Maintain Accountability</vt:lpstr>
      <vt:lpstr>How to be Flexible and Maintain Accountability (cont.)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SPANISH AND PORTUGUESE</dc:title>
  <dc:creator>Jerlene Rodriguez</dc:creator>
  <cp:lastModifiedBy>Jerlene Rodriguez</cp:lastModifiedBy>
  <cp:revision>20</cp:revision>
  <dcterms:modified xsi:type="dcterms:W3CDTF">2022-08-29T17:35:52Z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0x010100544001A1BC82C74FAC858A3F5A968B43</vt:lpwstr>
  </property>
</Properties>
</file>